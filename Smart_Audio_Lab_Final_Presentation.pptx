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 Muthyala Raju" userId="4e463ebc343e1a03" providerId="LiveId" clId="{70F74775-BA11-4207-BA92-1997BC098AE2}"/>
    <pc:docChg chg="custSel modSld">
      <pc:chgData name="B Muthyala Raju" userId="4e463ebc343e1a03" providerId="LiveId" clId="{70F74775-BA11-4207-BA92-1997BC098AE2}" dt="2026-10-22T17:28:26.400" v="0" actId="478"/>
      <pc:docMkLst>
        <pc:docMk/>
      </pc:docMkLst>
      <pc:sldChg chg="delSp mod">
        <pc:chgData name="B Muthyala Raju" userId="4e463ebc343e1a03" providerId="LiveId" clId="{70F74775-BA11-4207-BA92-1997BC098AE2}" dt="2026-10-22T17:28:26.400" v="0" actId="478"/>
        <pc:sldMkLst>
          <pc:docMk/>
          <pc:sldMk cId="0" sldId="256"/>
        </pc:sldMkLst>
        <pc:spChg chg="del">
          <ac:chgData name="B Muthyala Raju" userId="4e463ebc343e1a03" providerId="LiveId" clId="{70F74775-BA11-4207-BA92-1997BC098AE2}" dt="2026-10-22T17:28:26.400" v="0" actId="478"/>
          <ac:spMkLst>
            <pc:docMk/>
            <pc:sldMk cId="0" sldId="256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32520" y="502920"/>
            <a:ext cx="1828800" cy="1828800"/>
          </a:xfrm>
          <a:prstGeom prst="ellipse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90888" y="1033271"/>
            <a:ext cx="1828800" cy="1828800"/>
          </a:xfrm>
          <a:prstGeom prst="ellipse">
            <a:avLst/>
          </a:prstGeom>
          <a:solidFill>
            <a:srgbClr val="22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49256" y="1563624"/>
            <a:ext cx="1828800" cy="1828800"/>
          </a:xfrm>
          <a:prstGeom prst="ellipse">
            <a:avLst/>
          </a:prstGeom>
          <a:solidFill>
            <a:srgbClr val="EFB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7223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1">
                <a:solidFill>
                  <a:srgbClr val="78DCD3"/>
                </a:solidFill>
                <a:latin typeface="Aptos"/>
              </a:rPr>
              <a:t>SECOND-YEAR ECE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98448"/>
            <a:ext cx="8046720" cy="1828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INTELLIGENT AUDIO
ENHANCEMENT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246120"/>
            <a:ext cx="777240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900" b="0">
                <a:solidFill>
                  <a:srgbClr val="DCE6F2"/>
                </a:solidFill>
                <a:latin typeface="Aptos"/>
              </a:rPr>
              <a:t>in Noisy Environments Using Analog Electronics,
Digital Signal Processing, and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4251960"/>
            <a:ext cx="914400" cy="64008"/>
          </a:xfrm>
          <a:prstGeom prst="rect">
            <a:avLst/>
          </a:prstGeom>
          <a:solidFill>
            <a:srgbClr val="EFB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4572000"/>
            <a:ext cx="6217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SMART AUDIO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5230368"/>
            <a:ext cx="6400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C2CFE0"/>
                </a:solidFill>
                <a:latin typeface="Aptos"/>
              </a:rPr>
              <a:t>Project Presentation  |  Electronics &amp; Communication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0D2244"/>
                </a:solidFill>
                <a:latin typeface="Aptos"/>
              </a:rPr>
              <a:t>01  |  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5F6C7C"/>
                </a:solidFill>
                <a:latin typeface="Aptos"/>
              </a:rPr>
              <a:t>Why environmental noise matters in speech-oriented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5F6C7C"/>
                </a:solidFill>
                <a:latin typeface="Aptos"/>
              </a:rPr>
              <a:t>SMART AUDIO LAB  |  ECE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F6C7C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486400" cy="4389120"/>
          </a:xfrm>
          <a:prstGeom prst="rect">
            <a:avLst/>
          </a:prstGeom>
          <a:noFill/>
        </p:spPr>
        <p:txBody>
          <a:bodyPr wrap="square" lIns="36576" tIns="18288" rIns="73152" bIns="18288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Background sounds can mask speech and reduce listening comfort.</a:t>
            </a:r>
          </a:p>
          <a:p>
            <a:pPr>
              <a:spcAft>
                <a:spcPts val="16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Audio systems need to inspect signals before choosing how to process them.</a:t>
            </a:r>
          </a:p>
          <a:p>
            <a:pPr>
              <a:spcAft>
                <a:spcPts val="16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A low-cost learning platform can make audio processing concepts visible and testable.</a:t>
            </a:r>
          </a:p>
          <a:p>
            <a:pPr>
              <a:spcAft>
                <a:spcPts val="16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The project explores a unified path from audio input to DSP, features, and ML demonstration.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572768"/>
            <a:ext cx="4846320" cy="1115568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02552" y="1709928"/>
            <a:ext cx="45171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009691"/>
                </a:solidFill>
                <a:latin typeface="Aptos"/>
              </a:rPr>
              <a:t>CORE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2" y="2103120"/>
            <a:ext cx="4517136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Separate useful speech characteristics from unwanted environmental sound without damaging the speech.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880360"/>
            <a:ext cx="4846320" cy="1115568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02552" y="3017520"/>
            <a:ext cx="45171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2270BE"/>
                </a:solidFill>
                <a:latin typeface="Aptos"/>
              </a:rPr>
              <a:t>PROJECT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3410712"/>
            <a:ext cx="4517136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Build a modular dashboard to visualize audio, apply basic processing, and demonstrate feature-based classification.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4187952"/>
            <a:ext cx="4846320" cy="1115568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02552" y="4325112"/>
            <a:ext cx="45171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EFB13F"/>
                </a:solidFill>
                <a:latin typeface="Aptos"/>
              </a:rPr>
              <a:t>ENGINEERING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4718304"/>
            <a:ext cx="4517136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Combine analog front-end concepts, digital signal processing, and a machine-learning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0D2244"/>
                </a:solidFill>
                <a:latin typeface="Aptos"/>
              </a:rPr>
              <a:t>02  |  Aim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5F6C7C"/>
                </a:solidFill>
                <a:latin typeface="Aptos"/>
              </a:rPr>
              <a:t>A demonstrator for learning and evaluating an audio-processing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5F6C7C"/>
                </a:solidFill>
                <a:latin typeface="Aptos"/>
              </a:rPr>
              <a:t>SMART AUDIO LAB  |  ECE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F6C7C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353312"/>
            <a:ext cx="5074920" cy="1115568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90472"/>
            <a:ext cx="47457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009691"/>
                </a:solidFill>
                <a:latin typeface="Aptos"/>
              </a:rPr>
              <a:t>01  Acquire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83664"/>
            <a:ext cx="4745736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Synthetic signals and short, on-demand laptop microphone recordings.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353312"/>
            <a:ext cx="5074920" cy="1115568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47457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2270BE"/>
                </a:solidFill>
                <a:latin typeface="Aptos"/>
              </a:rPr>
              <a:t>02  Visualize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83664"/>
            <a:ext cx="4745736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Inspect waveform and frequency content using FFT.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798064"/>
            <a:ext cx="5074920" cy="1115568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935224"/>
            <a:ext cx="47457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EFB13F"/>
                </a:solidFill>
                <a:latin typeface="Aptos"/>
              </a:rPr>
              <a:t>03 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28416"/>
            <a:ext cx="4745736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Demonstrate DC offset removal, low-pass filtering, and energy gating.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2798064"/>
            <a:ext cx="5074920" cy="1115568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2935224"/>
            <a:ext cx="47457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009691"/>
                </a:solidFill>
                <a:latin typeface="Aptos"/>
              </a:rPr>
              <a:t>04  Extract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28416"/>
            <a:ext cx="4745736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Calculate RMS, ZCR, spectral centroid, roll-off, and low-band energy ratio.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11296" y="4251960"/>
            <a:ext cx="5074920" cy="1115568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75887" y="4389120"/>
            <a:ext cx="47457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2270BE"/>
                </a:solidFill>
                <a:latin typeface="Aptos"/>
              </a:rPr>
              <a:t>05  Demonstrate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7" y="4782312"/>
            <a:ext cx="4745736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Show the feature-to-Random-Forest classification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0D2244"/>
                </a:solidFill>
                <a:latin typeface="Aptos"/>
              </a:rPr>
              <a:t>03  |  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5F6C7C"/>
                </a:solidFill>
                <a:latin typeface="Aptos"/>
              </a:rPr>
              <a:t>Implemented software pipeline with a proposed hardware acquisition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5F6C7C"/>
                </a:solidFill>
                <a:latin typeface="Aptos"/>
              </a:rPr>
              <a:t>SMART AUDIO LAB  |  ECE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F6C7C"/>
                </a:solidFill>
                <a:latin typeface="Aptos"/>
              </a:rPr>
              <a:t>4</a:t>
            </a:r>
          </a:p>
        </p:txBody>
      </p:sp>
      <p:pic>
        <p:nvPicPr>
          <p:cNvPr id="7" name="Picture 6" descr="a_clean_infographic_diagram_image_on_a_white_back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18681"/>
            <a:ext cx="7498079" cy="31235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66760" y="1444752"/>
            <a:ext cx="3154680" cy="1170432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31352" y="1581912"/>
            <a:ext cx="282549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009691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1352" y="1975104"/>
            <a:ext cx="2825496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Synthetic audio or on-demand microphone capture.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788920"/>
            <a:ext cx="3154680" cy="1170432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31352" y="2926079"/>
            <a:ext cx="282549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2270BE"/>
                </a:solidFill>
                <a:latin typeface="Aptos"/>
              </a:rPr>
              <a:t>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3319272"/>
            <a:ext cx="2825496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DSP → feature extraction → Random Forest demonstration.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133087"/>
            <a:ext cx="3154680" cy="1170432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31352" y="4270248"/>
            <a:ext cx="282549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EFB13F"/>
                </a:solidFill>
                <a:latin typeface="Aptos"/>
              </a:rPr>
              <a:t>HARDWARE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4663440"/>
            <a:ext cx="2825496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Analog conditioning and ESP32 acquisition are proposed unless physically built and tested.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53328"/>
            <a:ext cx="10789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0">
                <a:solidFill>
                  <a:srgbClr val="5F6C7C"/>
                </a:solidFill>
                <a:latin typeface="Aptos"/>
              </a:rPr>
              <a:t>Conceptual architecture illustration — not a claim of completed hardware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0D2244"/>
                </a:solidFill>
                <a:latin typeface="Aptos"/>
              </a:rPr>
              <a:t>04  |  Audio Inputs &amp; 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5F6C7C"/>
                </a:solidFill>
                <a:latin typeface="Aptos"/>
              </a:rPr>
              <a:t>Two software-supported input 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5F6C7C"/>
                </a:solidFill>
                <a:latin typeface="Aptos"/>
              </a:rPr>
              <a:t>SMART AUDIO LAB  |  ECE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F6C7C"/>
                </a:solidFill>
                <a:latin typeface="Aptos"/>
              </a:rPr>
              <a:t>5</a:t>
            </a:r>
          </a:p>
        </p:txBody>
      </p:sp>
      <p:pic>
        <p:nvPicPr>
          <p:cNvPr id="7" name="Picture 6" descr="wide_clean_infographic_style_figure_with_a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54479"/>
            <a:ext cx="7589520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554480"/>
            <a:ext cx="2971800" cy="1261872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22792" y="1691639"/>
            <a:ext cx="264261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009691"/>
                </a:solidFill>
                <a:latin typeface="Aptos"/>
              </a:rPr>
              <a:t>SYNTHETIC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084831"/>
            <a:ext cx="2642616" cy="60350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Useful for controlled demonstrations of signal characteristics.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971800"/>
            <a:ext cx="2971800" cy="1261872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22792" y="3108960"/>
            <a:ext cx="264261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2270BE"/>
                </a:solidFill>
                <a:latin typeface="Aptos"/>
              </a:rPr>
              <a:t>MICROPHONE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502152"/>
            <a:ext cx="2642616" cy="60350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Short recordings initiated on demand; not continuous real-time capture.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0789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1">
                <a:solidFill>
                  <a:srgbClr val="0D2244"/>
                </a:solidFill>
                <a:latin typeface="Aptos"/>
              </a:rPr>
              <a:t>Record the source type for every example: synthetic simulation, laptop microphone, or physical hardware.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0D2244"/>
                </a:solidFill>
                <a:latin typeface="Aptos"/>
              </a:rPr>
              <a:t>05  |  Signal Analysis: Time &amp; Frequency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5F6C7C"/>
                </a:solidFill>
                <a:latin typeface="Aptos"/>
              </a:rPr>
              <a:t>Waveform and FFT provide complementary views of audio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5F6C7C"/>
                </a:solidFill>
                <a:latin typeface="Aptos"/>
              </a:rPr>
              <a:t>SMART AUDIO LAB  |  ECE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F6C7C"/>
                </a:solidFill>
                <a:latin typeface="Aptos"/>
              </a:rPr>
              <a:t>6</a:t>
            </a:r>
          </a:p>
        </p:txBody>
      </p:sp>
      <p:pic>
        <p:nvPicPr>
          <p:cNvPr id="7" name="Picture 6" descr="a_clean_scientific_technical_figure_a_wide_rect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13083"/>
            <a:ext cx="5486400" cy="2285529"/>
          </a:xfrm>
          <a:prstGeom prst="rect">
            <a:avLst/>
          </a:prstGeom>
        </p:spPr>
      </p:pic>
      <p:pic>
        <p:nvPicPr>
          <p:cNvPr id="8" name="Picture 7" descr="a_clean_scientific_technical_plot_image_a_wide_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41398"/>
            <a:ext cx="5257800" cy="26289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5532120"/>
            <a:ext cx="5074920" cy="658368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5669280"/>
            <a:ext cx="47457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009691"/>
                </a:solidFill>
                <a:latin typeface="Aptos"/>
              </a:rPr>
              <a:t>TIME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6062472"/>
            <a:ext cx="4745736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Amplitude changes over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5532120"/>
            <a:ext cx="5074920" cy="658368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5669280"/>
            <a:ext cx="47457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2270BE"/>
                </a:solidFill>
                <a:latin typeface="Aptos"/>
              </a:rPr>
              <a:t>FREQUENCY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6062472"/>
            <a:ext cx="4745736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Distribution of spectral components.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91072"/>
            <a:ext cx="10515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900" b="0">
                <a:solidFill>
                  <a:srgbClr val="5F6C7C"/>
                </a:solidFill>
                <a:latin typeface="Aptos"/>
              </a:rPr>
              <a:t>Plots are illustrative examples; replace with exports from the actual application when available.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0D2244"/>
                </a:solidFill>
                <a:latin typeface="Aptos"/>
              </a:rPr>
              <a:t>06  |  Digital Signal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5F6C7C"/>
                </a:solidFill>
                <a:latin typeface="Aptos"/>
              </a:rPr>
              <a:t>Three basic operations demonstrated in Smart Audio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5F6C7C"/>
                </a:solidFill>
                <a:latin typeface="Aptos"/>
              </a:rPr>
              <a:t>SMART AUDIO LAB  |  ECE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F6C7C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371600"/>
            <a:ext cx="3474720" cy="1325880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1455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009691"/>
                </a:solidFill>
                <a:latin typeface="Aptos"/>
              </a:rPr>
              <a:t>DC OFFSET REMOVAL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3145536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Subtracts the signal mean to move the waveform toward zero.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71600"/>
            <a:ext cx="3474720" cy="1325880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5424" y="1508760"/>
            <a:ext cx="31455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2270BE"/>
                </a:solidFill>
                <a:latin typeface="Aptos"/>
              </a:rPr>
              <a:t>BUTTERWORTH LOW-PASS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1901952"/>
            <a:ext cx="3145536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Attenuates components above a selected cutoff frequency.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371600"/>
            <a:ext cx="3474720" cy="1325880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6448" y="1508760"/>
            <a:ext cx="31455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EFB13F"/>
                </a:solidFill>
                <a:latin typeface="Aptos"/>
              </a:rPr>
              <a:t>ENERGY GATING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901952"/>
            <a:ext cx="3145536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Attenuates signal regions below a selected energy threshold.</a:t>
            </a:r>
          </a:p>
        </p:txBody>
      </p:sp>
      <p:pic>
        <p:nvPicPr>
          <p:cNvPr id="16" name="Picture 15" descr="a_clean_publication_style_figure_white_backgro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07792"/>
            <a:ext cx="5029200" cy="2514600"/>
          </a:xfrm>
          <a:prstGeom prst="rect">
            <a:avLst/>
          </a:prstGeom>
        </p:spPr>
      </p:pic>
      <p:pic>
        <p:nvPicPr>
          <p:cNvPr id="17" name="Picture 16" descr="wide_rectangular_scientific_technical_plot_imag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907792"/>
            <a:ext cx="5029200" cy="2514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960" y="5577840"/>
            <a:ext cx="1069848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1">
                <a:solidFill>
                  <a:srgbClr val="0D2244"/>
                </a:solidFill>
                <a:latin typeface="Aptos"/>
              </a:rPr>
              <a:t>Important: basic filters and gates can also attenuate useful speech. Visual differences alone do not prove a measured SNR improvement.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0D2244"/>
                </a:solidFill>
                <a:latin typeface="Aptos"/>
              </a:rPr>
              <a:t>07  |  Audio Feature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5F6C7C"/>
                </a:solidFill>
                <a:latin typeface="Aptos"/>
              </a:rPr>
              <a:t>Compact numerical descriptors for the ML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5F6C7C"/>
                </a:solidFill>
                <a:latin typeface="Aptos"/>
              </a:rPr>
              <a:t>SMART AUDIO LAB  |  ECE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F6C7C"/>
                </a:solidFill>
                <a:latin typeface="Aptos"/>
              </a:rPr>
              <a:t>8</a:t>
            </a:r>
          </a:p>
        </p:txBody>
      </p:sp>
      <p:pic>
        <p:nvPicPr>
          <p:cNvPr id="7" name="Picture 6" descr="wide_diagram_flowchart_on_white_background_like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20944"/>
            <a:ext cx="7498079" cy="27989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75320" y="1572768"/>
            <a:ext cx="3246120" cy="3474720"/>
          </a:xfrm>
          <a:prstGeom prst="rect">
            <a:avLst/>
          </a:prstGeom>
          <a:noFill/>
        </p:spPr>
        <p:txBody>
          <a:bodyPr wrap="square" lIns="36576" tIns="18288" rIns="73152" bIns="18288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RMS energy — overall signal magnitude</a:t>
            </a:r>
          </a:p>
          <a:p>
            <a:pPr>
              <a:spcAft>
                <a:spcPts val="13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Zero-crossing rate — sign changes</a:t>
            </a:r>
          </a:p>
          <a:p>
            <a:pPr>
              <a:spcAft>
                <a:spcPts val="13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Spectral centroid — spectral balance</a:t>
            </a:r>
          </a:p>
          <a:p>
            <a:pPr>
              <a:spcAft>
                <a:spcPts val="13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Spectral roll-off — frequency threshold</a:t>
            </a:r>
          </a:p>
          <a:p>
            <a:pPr>
              <a:spcAft>
                <a:spcPts val="13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Low-band energy ratio — energy in a defined low band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7" y="5074920"/>
            <a:ext cx="3063240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5F6C7C"/>
                </a:solidFill>
                <a:latin typeface="Aptos"/>
              </a:rPr>
              <a:t>Feature values depend on the signal, sampling rate, and implementation.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0D2244"/>
                </a:solidFill>
                <a:latin typeface="Aptos"/>
              </a:rPr>
              <a:t>08  |  Random Forest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5F6C7C"/>
                </a:solidFill>
                <a:latin typeface="Aptos"/>
              </a:rPr>
              <a:t>Feature vector → tree ensemble → predicted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5F6C7C"/>
                </a:solidFill>
                <a:latin typeface="Aptos"/>
              </a:rPr>
              <a:t>SMART AUDIO LAB  |  ECE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F6C7C"/>
                </a:solidFill>
                <a:latin typeface="Aptos"/>
              </a:rPr>
              <a:t>9</a:t>
            </a:r>
          </a:p>
        </p:txBody>
      </p:sp>
      <p:pic>
        <p:nvPicPr>
          <p:cNvPr id="7" name="Picture 6" descr="a_clean_infographic_image_with_two_stacked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7340"/>
            <a:ext cx="7680960" cy="3840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03920" y="1508760"/>
            <a:ext cx="2880360" cy="1325880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68512" y="1645919"/>
            <a:ext cx="255117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009691"/>
                </a:solidFill>
                <a:latin typeface="Aptos"/>
              </a:rPr>
              <a:t>WHAT IT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8512" y="2039112"/>
            <a:ext cx="2551176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How extracted features can be passed into a classifier.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2999232"/>
            <a:ext cx="2880360" cy="1325880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68512" y="3136391"/>
            <a:ext cx="255117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EFB13F"/>
                </a:solidFill>
                <a:latin typeface="Aptos"/>
              </a:rPr>
              <a:t>WHAT IT DOES NOT SHOW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3529584"/>
            <a:ext cx="2551176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Validated real-world environmental sound recognition accuracy.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617720"/>
            <a:ext cx="278892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1">
                <a:solidFill>
                  <a:srgbClr val="0D2244"/>
                </a:solidFill>
                <a:latin typeface="Aptos"/>
              </a:rPr>
              <a:t>Current demonstration uses synthetic feature examples. Any sample class/confidence shown in artwork is illustrative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0D2244"/>
                </a:solidFill>
                <a:latin typeface="Aptos"/>
              </a:rPr>
              <a:t>09  |  Smart Audio Lab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5F6C7C"/>
                </a:solidFill>
                <a:latin typeface="Aptos"/>
              </a:rPr>
              <a:t>A unified workspace for analysis, processing, features, and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5F6C7C"/>
                </a:solidFill>
                <a:latin typeface="Aptos"/>
              </a:rPr>
              <a:t>SMART AUDIO LAB  |  ECE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F6C7C"/>
                </a:solidFill>
                <a:latin typeface="Aptos"/>
              </a:rPr>
              <a:t>10</a:t>
            </a:r>
          </a:p>
        </p:txBody>
      </p:sp>
      <p:pic>
        <p:nvPicPr>
          <p:cNvPr id="7" name="Picture 6" descr="a_clean_infographic_screenshot_style_desktop_app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33500"/>
            <a:ext cx="6492240" cy="4328160"/>
          </a:xfrm>
          <a:prstGeom prst="rect">
            <a:avLst/>
          </a:prstGeom>
        </p:spPr>
      </p:pic>
      <p:pic>
        <p:nvPicPr>
          <p:cNvPr id="8" name="Picture 7" descr="a_wide_clean_gui_screenshot_illustration_of_an_a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2080260"/>
            <a:ext cx="4251960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806440"/>
            <a:ext cx="10607040" cy="475488"/>
          </a:xfrm>
          <a:prstGeom prst="rect">
            <a:avLst/>
          </a:prstGeom>
          <a:noFill/>
        </p:spPr>
        <p:txBody>
          <a:bodyPr wrap="square" lIns="36576" tIns="18288" rIns="73152" bIns="18288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5F6C7C"/>
                </a:solidFill>
                <a:latin typeface="Aptos"/>
              </a:defRPr>
            </a:pPr>
            <a:r>
              <a:t>Interface images are visual mock-ups; use genuine screenshots from the running Streamlit app for the final defense.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0D2244"/>
                </a:solidFill>
                <a:latin typeface="Aptos"/>
              </a:rPr>
              <a:t>10  |  Outcomes, Scope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5F6C7C"/>
                </a:solidFill>
                <a:latin typeface="Aptos"/>
              </a:rPr>
              <a:t>Separate implemented functions from proposed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5F6C7C"/>
                </a:solidFill>
                <a:latin typeface="Aptos"/>
              </a:rPr>
              <a:t>SMART AUDIO LAB  |  ECE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F6C7C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371600"/>
            <a:ext cx="525780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92861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009691"/>
                </a:solidFill>
                <a:latin typeface="Aptos"/>
              </a:rPr>
              <a:t>SOFTWARE DEMONSTRATED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4928616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• Synthetic audio and on-demand mic capture
• Waveform and FFT visualization
• DC removal, low-pass filter, energy gate
• Feature extraction and synthetic-feature RF 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71600"/>
            <a:ext cx="525780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64224" y="1508760"/>
            <a:ext cx="492861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EFB13F"/>
                </a:solidFill>
                <a:latin typeface="Aptos"/>
              </a:rPr>
              <a:t>NOT YET CLAIMED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901952"/>
            <a:ext cx="4928616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• Validated real-world ML accuracy
• Measured SNR or intelligibility improvement
• Measured end-to-end latency
• Completed analog/ESP32 hardware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03320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1">
                <a:solidFill>
                  <a:srgbClr val="0D2244"/>
                </a:solidFill>
                <a:latin typeface="Aptos"/>
              </a:rPr>
              <a:t>The project’s contribution is a unified, explainable software demonstrator and a proposed route toward hardware integration.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10332720" cy="1325880"/>
          </a:xfrm>
          <a:prstGeom prst="rect">
            <a:avLst/>
          </a:prstGeom>
          <a:noFill/>
        </p:spPr>
        <p:txBody>
          <a:bodyPr wrap="square" lIns="36576" tIns="18288" rIns="73152" bIns="18288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Next evaluation: real labeled recordings, controlled noise tests, objective metrics, and listening tests.</a:t>
            </a:r>
          </a:p>
          <a:p>
            <a:pPr>
              <a:spcAft>
                <a:spcPts val="12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Next hardware step: assemble and verify the analog front end and ESP32 sample-transfer path.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0D2244"/>
                </a:solidFill>
                <a:latin typeface="Aptos"/>
              </a:rPr>
              <a:t>11  |  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5F6C7C"/>
                </a:solidFill>
                <a:latin typeface="Aptos"/>
              </a:rPr>
              <a:t>From an educational demonstrator toward a validated integrated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5F6C7C"/>
                </a:solidFill>
                <a:latin typeface="Aptos"/>
              </a:rPr>
              <a:t>SMART AUDIO LAB  |  ECE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F6C7C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38328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554480"/>
            <a:ext cx="305409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009691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947672"/>
            <a:ext cx="3054096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Smart Audio Lab brings audio visualization, basic DSP, feature extraction, and an ML workflow into one application.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38328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305409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2270BE"/>
                </a:solidFill>
                <a:latin typeface="Aptos"/>
              </a:rPr>
              <a:t>NEAR-TERM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47672"/>
            <a:ext cx="3054096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Evaluate using labeled real-world recordings; report reproducible metrics and limitations.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1417320"/>
            <a:ext cx="338328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02167" y="1554480"/>
            <a:ext cx="305409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EFB13F"/>
                </a:solidFill>
                <a:latin typeface="Aptos"/>
              </a:rPr>
              <a:t>LONG-TERM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7" y="1947672"/>
            <a:ext cx="3054096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232D3C"/>
                </a:solidFill>
                <a:latin typeface="Aptos"/>
              </a:rPr>
              <a:t>Integrate analog conditioning and ESP32 acquisition; investigate stronger noise-reduction methods.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886200"/>
            <a:ext cx="103327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3200" b="1">
                <a:solidFill>
                  <a:srgbClr val="0D2244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17720"/>
            <a:ext cx="103327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>
                <a:solidFill>
                  <a:srgbClr val="009691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53212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F6C7C"/>
                </a:solidFill>
                <a:latin typeface="Aptos"/>
              </a:rPr>
              <a:t>Selected references: Oppenheim &amp; Schafer (2010) • Breiman (2001) • Pedregosa et al. (2011)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907</Words>
  <Application>Microsoft Office PowerPoint</Application>
  <PresentationFormat>Widescreen</PresentationFormat>
  <Paragraphs>121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 Muthyala Raju</cp:lastModifiedBy>
  <cp:revision>1</cp:revision>
  <dcterms:created xsi:type="dcterms:W3CDTF">2013-01-27T09:14:16Z</dcterms:created>
  <dcterms:modified xsi:type="dcterms:W3CDTF">2026-10-22T17:28:29Z</dcterms:modified>
  <cp:category/>
</cp:coreProperties>
</file>